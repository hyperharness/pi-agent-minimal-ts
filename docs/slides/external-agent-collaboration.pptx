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智能体系统、评测与实验 Harness 交流材料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智能体系统、评测与实验 Harness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基于 </a:t>
            </a:r>
            <a:r>
              <a:rPr b="1">
                <a:latin typeface="Courier"/>
              </a:rPr>
              <a:t>pi-agent-minimal-ts</a:t>
            </a:r>
            <a:r>
              <a:rPr b="1"/>
              <a:t> 现状与超导量子芯片设计 agent 计划</a:t>
            </a:r>
          </a:p>
          <a:p>
            <a:pPr lvl="0" indent="0" marL="0">
              <a:buNone/>
            </a:pPr>
            <a:r>
              <a:rPr/>
              <a:t>交流目标：把“能跑的 demo”推进为可复现、可比较、可迭代的研究系统。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交流定位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这次交流不把系统包装成已经完成的通用设计智能体，而是讨论一个正在形成的研究基础设施：</a:t>
            </a:r>
          </a:p>
          <a:p>
            <a:pPr lvl="0"/>
            <a:r>
              <a:rPr/>
              <a:t>现有基座：论文获取、解析、wiki 知识库、worker 边界、Feishu/RPC 运行、论文写作流程。</a:t>
            </a:r>
          </a:p>
          <a:p>
            <a:pPr lvl="0"/>
            <a:r>
              <a:rPr/>
              <a:t>当前重点：把复杂科研任务拆成可追踪、可评测、可复盘的 agent workflow。</a:t>
            </a:r>
          </a:p>
          <a:p>
            <a:pPr lvl="0"/>
            <a:r>
              <a:rPr/>
              <a:t>领域计划：面向超导量子芯片设计，建设 evidence-first 的 design agent 与 benchmark。</a:t>
            </a:r>
          </a:p>
          <a:p>
            <a:pPr lvl="0"/>
            <a:r>
              <a:rPr/>
              <a:t>合作价值：共同定义任务、过程日志、评测指标和公平比较协议。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我们关心的核心问题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复杂任务中，agent 如何可靠地进行任务分解、工具调用、状态管理和自我修正？</a:t>
            </a:r>
          </a:p>
          <a:p>
            <a:pPr lvl="0" indent="-342900" marL="342900">
              <a:buAutoNum type="arabicPeriod"/>
            </a:pPr>
            <a:r>
              <a:rPr/>
              <a:t>单智能体、多 worker、多智能体编排在真实任务中的边界是什么？</a:t>
            </a:r>
          </a:p>
          <a:p>
            <a:pPr lvl="0" indent="-342900" marL="342900">
              <a:buAutoNum type="arabicPeriod"/>
            </a:pPr>
            <a:r>
              <a:rPr/>
              <a:t>如何从 demo 走向稳定、可复现、可比较的实验系统？</a:t>
            </a:r>
          </a:p>
          <a:p>
            <a:pPr lvl="0" indent="-342900" marL="342900">
              <a:buAutoNum type="arabicPeriod"/>
            </a:pPr>
            <a:r>
              <a:rPr/>
              <a:t>benchmark 是否只评最终答案，还是也评过程质量、成本、鲁棒性、可追踪性和长期稳定性？</a:t>
            </a:r>
          </a:p>
          <a:p>
            <a:pPr lvl="0" indent="-342900" marL="342900">
              <a:buAutoNum type="arabicPeriod"/>
            </a:pPr>
            <a:r>
              <a:rPr/>
              <a:t>实验 harness 如何记录执行过程、中间状态、失败案例，并支持不同模型和架构公平比较？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pi-agent-minimal-ts</a:t>
            </a:r>
            <a:r>
              <a:rPr/>
              <a:t> 当前定位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pi-agent-minimal-ts</a:t>
            </a:r>
            <a:r>
              <a:rPr/>
              <a:t> 目前更像一个科研 agent harness，而不是单一聊天机器人：</a:t>
            </a:r>
          </a:p>
          <a:p>
            <a:pPr lvl="0"/>
            <a:r>
              <a:rPr/>
              <a:t>CLI / JSONL RPC / Feishu bridge 三种运行入口。</a:t>
            </a:r>
          </a:p>
          <a:p>
            <a:pPr lvl="0"/>
            <a:r>
              <a:rPr/>
              <a:t>paper acquisition：检索、下载、浏览器扩展、解析、阅读、source metadata。</a:t>
            </a:r>
          </a:p>
          <a:p>
            <a:pPr lvl="0"/>
            <a:r>
              <a:rPr/>
              <a:t>wiki agent：source summary、typed synthesis page、claim provenance、typed relation、lint、health。</a:t>
            </a:r>
          </a:p>
          <a:p>
            <a:pPr lvl="0"/>
            <a:r>
              <a:rPr/>
              <a:t>worker router：按意图隔离 </a:t>
            </a:r>
            <a:r>
              <a:rPr>
                <a:latin typeface="Courier"/>
              </a:rPr>
              <a:t>paper-download-subagent</a:t>
            </a:r>
            <a:r>
              <a:rPr/>
              <a:t>、</a:t>
            </a:r>
            <a:r>
              <a:rPr>
                <a:latin typeface="Courier"/>
              </a:rPr>
              <a:t>wiki-evidence-worker</a:t>
            </a:r>
            <a:r>
              <a:rPr/>
              <a:t>、</a:t>
            </a:r>
            <a:r>
              <a:rPr>
                <a:latin typeface="Courier"/>
              </a:rPr>
              <a:t>design-subagent</a:t>
            </a:r>
            <a:r>
              <a:rPr/>
              <a:t>、</a:t>
            </a:r>
            <a:r>
              <a:rPr>
                <a:latin typeface="Courier"/>
              </a:rPr>
              <a:t>paper-writing-worker</a:t>
            </a:r>
            <a:r>
              <a:rPr/>
              <a:t>。</a:t>
            </a:r>
          </a:p>
          <a:p>
            <a:pPr lvl="0"/>
            <a:r>
              <a:rPr/>
              <a:t>repo manager：桥接侧管理 paper/design/wiki 工作区的 status、diff、commit、push。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当前系统边界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CLI / RPC / Feishu bridge
        |
        v
main chat agent / wiki-agent coordinator
        |
        +--&gt; paper-download-subagent  -&gt; acquisition, PDFs, webpages, parses
        +--&gt; wiki-evidence-worker     -&gt; source summaries, fixed-evidence drafts
        +--&gt; wiki-agent               -&gt; durable typed wiki pages
        +--&gt; design-subagent          -&gt; design records, verification reports
        +--&gt; paper-writing-worker     -&gt; manuscript files, LaTeX compile</a:t>
            </a:r>
          </a:p>
          <a:p>
            <a:pPr lvl="0" indent="0" marL="0">
              <a:buNone/>
            </a:pPr>
            <a:r>
              <a:rPr/>
              <a:t>设计原则：领域工作交给边界清晰的 worker；主 agent 保留协调、审计和最终上下文连续性。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任务分解与工具调用：现有经验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复杂科研任务不是一次性回答，而是链式工作流：</a:t>
            </a:r>
          </a:p>
          <a:p>
            <a:pPr lvl="0"/>
            <a:r>
              <a:rPr/>
              <a:t>获取证据：</a:t>
            </a:r>
            <a:r>
              <a:rPr>
                <a:latin typeface="Courier"/>
              </a:rPr>
              <a:t>search_papers</a:t>
            </a:r>
            <a:r>
              <a:rPr/>
              <a:t> / </a:t>
            </a:r>
            <a:r>
              <a:rPr>
                <a:latin typeface="Courier"/>
              </a:rPr>
              <a:t>download_paper</a:t>
            </a:r>
            <a:r>
              <a:rPr/>
              <a:t> / browser extension。</a:t>
            </a:r>
          </a:p>
          <a:p>
            <a:pPr lvl="0"/>
            <a:r>
              <a:rPr/>
              <a:t>结构化输入：</a:t>
            </a:r>
            <a:r>
              <a:rPr>
                <a:latin typeface="Courier"/>
              </a:rPr>
              <a:t>parse_paper</a:t>
            </a:r>
            <a:r>
              <a:rPr/>
              <a:t> / </a:t>
            </a:r>
            <a:r>
              <a:rPr>
                <a:latin typeface="Courier"/>
              </a:rPr>
              <a:t>inspect_paper</a:t>
            </a:r>
            <a:r>
              <a:rPr/>
              <a:t> / source summary。</a:t>
            </a:r>
          </a:p>
          <a:p>
            <a:pPr lvl="0"/>
            <a:r>
              <a:rPr/>
              <a:t>固定证据合成：</a:t>
            </a:r>
            <a:r>
              <a:rPr>
                <a:latin typeface="Courier"/>
              </a:rPr>
              <a:t>bootstrap_wiki_page_evidence</a:t>
            </a:r>
            <a:r>
              <a:rPr/>
              <a:t> / </a:t>
            </a:r>
            <a:r>
              <a:rPr>
                <a:latin typeface="Courier"/>
              </a:rPr>
              <a:t>build_wiki_page</a:t>
            </a:r>
            <a:r>
              <a:rPr/>
              <a:t>。</a:t>
            </a:r>
          </a:p>
          <a:p>
            <a:pPr lvl="0"/>
            <a:r>
              <a:rPr/>
              <a:t>结构治理：</a:t>
            </a:r>
            <a:r>
              <a:rPr>
                <a:latin typeface="Courier"/>
              </a:rPr>
              <a:t>wiki_lint</a:t>
            </a:r>
            <a:r>
              <a:rPr/>
              <a:t> / </a:t>
            </a:r>
            <a:r>
              <a:rPr>
                <a:latin typeface="Courier"/>
              </a:rPr>
              <a:t>wiki_structure_plan</a:t>
            </a:r>
            <a:r>
              <a:rPr/>
              <a:t> / </a:t>
            </a:r>
            <a:r>
              <a:rPr>
                <a:latin typeface="Courier"/>
              </a:rPr>
              <a:t>wiki_health</a:t>
            </a:r>
            <a:r>
              <a:rPr/>
              <a:t>。</a:t>
            </a:r>
          </a:p>
          <a:p>
            <a:pPr lvl="0"/>
            <a:r>
              <a:rPr/>
              <a:t>设计记录：</a:t>
            </a:r>
            <a:r>
              <a:rPr>
                <a:latin typeface="Courier"/>
              </a:rPr>
              <a:t>write_design_artifact</a:t>
            </a:r>
            <a:r>
              <a:rPr/>
              <a:t>。</a:t>
            </a:r>
          </a:p>
          <a:p>
            <a:pPr lvl="0"/>
            <a:r>
              <a:rPr/>
              <a:t>写作输出：paper-writing worker 读取 wiki evidence 后编辑 LaTeX 并编译。</a:t>
            </a:r>
          </a:p>
          <a:p>
            <a:pPr lvl="0" indent="0" marL="0">
              <a:buNone/>
            </a:pPr>
            <a:r>
              <a:rPr/>
              <a:t>讨论点：哪些步骤应该由 planner 自动决定，哪些必须由 harness 明确约束？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状态管理：从聊天上下文到可审计工作区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当前状态不依赖单次 prompt 记忆，而是落在可检查的持久层：</a:t>
            </a:r>
          </a:p>
          <a:p>
            <a:pPr lvl="0"/>
            <a:r>
              <a:rPr>
                <a:latin typeface="Courier"/>
              </a:rPr>
              <a:t>knowledge-base/sources/</a:t>
            </a:r>
            <a:r>
              <a:rPr/>
              <a:t>：单篇论文或单个来源的 evidence summary。</a:t>
            </a:r>
          </a:p>
          <a:p>
            <a:pPr lvl="0"/>
            <a:r>
              <a:rPr>
                <a:latin typeface="Courier"/>
              </a:rPr>
              <a:t>knowledge-base/pages/</a:t>
            </a:r>
            <a:r>
              <a:rPr/>
              <a:t>：跨来源的 typed synthesis / concept / method / finding 页面。</a:t>
            </a:r>
          </a:p>
          <a:p>
            <a:pPr lvl="0"/>
            <a:r>
              <a:rPr>
                <a:latin typeface="Courier"/>
              </a:rPr>
              <a:t>knowledge-base/manifests/</a:t>
            </a:r>
            <a:r>
              <a:rPr/>
              <a:t>：source summary 与 acquisition、parse、quality artifact 的 provenance。</a:t>
            </a:r>
          </a:p>
          <a:p>
            <a:pPr lvl="0"/>
            <a:r>
              <a:rPr>
                <a:latin typeface="Courier"/>
              </a:rPr>
              <a:t>knowledge-base/state/wiki-operations.jsonl</a:t>
            </a:r>
            <a:r>
              <a:rPr/>
              <a:t>：多文件 wiki 操作日志。</a:t>
            </a:r>
          </a:p>
          <a:p>
            <a:pPr lvl="0"/>
            <a:r>
              <a:rPr>
                <a:latin typeface="Courier"/>
              </a:rPr>
              <a:t>knowledge-base/design-records/</a:t>
            </a:r>
            <a:r>
              <a:rPr/>
              <a:t>：设计决策、验证报告、失败记录、benchmark case。</a:t>
            </a:r>
          </a:p>
          <a:p>
            <a:pPr lvl="0"/>
            <a:r>
              <a:rPr/>
              <a:t>worker handoff：记录 role、instruction、route reason、changed paths、tools used、failed tools、next owner。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自我修正：不能只靠“让模型再想一遍”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当前更可靠的自我修正来自 harness 可观测性：</a:t>
            </a:r>
          </a:p>
          <a:p>
            <a:pPr lvl="0"/>
            <a:r>
              <a:rPr/>
              <a:t>health/lint 把问题显式化：缺失来源、弱证据、坏 frontmatter、破损实验引用、重复页面、下载阻断。</a:t>
            </a:r>
          </a:p>
          <a:p>
            <a:pPr lvl="0"/>
            <a:r>
              <a:rPr/>
              <a:t>structure plan 把修复动作变成可审阅、低风险、预算化 action。</a:t>
            </a:r>
          </a:p>
          <a:p>
            <a:pPr lvl="0"/>
            <a:r>
              <a:rPr/>
              <a:t>blocklist / access state 区分 license-denied、Cloudflare、manual-login、download-blocked。</a:t>
            </a:r>
          </a:p>
          <a:p>
            <a:pPr lvl="0"/>
            <a:r>
              <a:rPr/>
              <a:t>fixed-evidence page construction 把证据获取和页面写作拆开，降低 hallucination。</a:t>
            </a:r>
          </a:p>
          <a:p>
            <a:pPr lvl="0"/>
            <a:r>
              <a:rPr/>
              <a:t>worker boundary 让“谁能调用什么工具”成为实验变量，而不是隐含 prompt 约定。</a:t>
            </a:r>
          </a:p>
          <a:p>
            <a:pPr lvl="0" indent="0" marL="0">
              <a:buNone/>
            </a:pPr>
            <a:r>
              <a:rPr/>
              <a:t>合作问题：如何把这些 correction signals 变成 benchmark 中的过程评分？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单 agent 与多 agent / 多 worker 的适用边界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单 agent 适合：</a:t>
            </a:r>
          </a:p>
          <a:p>
            <a:pPr lvl="0"/>
            <a:r>
              <a:rPr/>
              <a:t>上下文短、工具少、失败代价低的探索任务。</a:t>
            </a:r>
          </a:p>
          <a:p>
            <a:pPr lvl="0"/>
            <a:r>
              <a:rPr/>
              <a:t>用户需要快速交互式试探，而不是严格可复现比较。</a:t>
            </a:r>
          </a:p>
          <a:p>
            <a:pPr lvl="0" indent="0" marL="0">
              <a:buNone/>
            </a:pPr>
            <a:r>
              <a:rPr/>
              <a:t>多 worker 适合：</a:t>
            </a:r>
          </a:p>
          <a:p>
            <a:pPr lvl="0"/>
            <a:r>
              <a:rPr/>
              <a:t>工具权限差异明显：下载、写 wiki、写设计记录、写论文不能混在一起。</a:t>
            </a:r>
          </a:p>
          <a:p>
            <a:pPr lvl="0"/>
            <a:r>
              <a:rPr/>
              <a:t>任务需要 fixed evidence：获取证据和合成结论要隔离。</a:t>
            </a:r>
          </a:p>
          <a:p>
            <a:pPr lvl="0"/>
            <a:r>
              <a:rPr/>
              <a:t>过程需要审计：每个 worker 的输入、输出、失败路径都要可记录。</a:t>
            </a:r>
          </a:p>
          <a:p>
            <a:pPr lvl="0" indent="0" marL="0">
              <a:buNone/>
            </a:pPr>
            <a:r>
              <a:rPr/>
              <a:t>风险：多 worker 会增加路由错误、状态同步、成本归因和 benchmark 设计复杂度。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从 demo 到实验系统的关键问题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往往只展示最终产物；实验系统必须记录“产物如何产生”：</a:t>
            </a:r>
          </a:p>
          <a:p>
            <a:pPr lvl="0"/>
            <a:r>
              <a:rPr/>
              <a:t>输入快照：模型、prompt、工具面、workspace、evidence fixture。</a:t>
            </a:r>
          </a:p>
          <a:p>
            <a:pPr lvl="0"/>
            <a:r>
              <a:rPr/>
              <a:t>执行轨迹：tool start/end、参数摘要、错误类型、重试、fallback。</a:t>
            </a:r>
          </a:p>
          <a:p>
            <a:pPr lvl="0"/>
            <a:r>
              <a:rPr/>
              <a:t>中间状态：source summary、page draft、lint finding、design record、verification report。</a:t>
            </a:r>
          </a:p>
          <a:p>
            <a:pPr lvl="0"/>
            <a:r>
              <a:rPr/>
              <a:t>失败分类：模型误判、工具失败、证据不足、权限阻断、路径安全、外部网站变化。</a:t>
            </a:r>
          </a:p>
          <a:p>
            <a:pPr lvl="0"/>
            <a:r>
              <a:rPr/>
              <a:t>可复跑协议：同一 case、同一 evidence、同一 harness，替换模型或 agent 架构。</a:t>
            </a:r>
          </a:p>
          <a:p>
            <a:pPr lvl="0" indent="0" marL="0">
              <a:buNone/>
            </a:pPr>
            <a:r>
              <a:rPr/>
              <a:t>核心观点：agent benchmark 应该评“系统行为”，不只评自然语言答案。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Benchmark：现有方案与局限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当前 repo 已有 wiki page construction benchmark 设计：</a:t>
            </a:r>
          </a:p>
          <a:p>
            <a:pPr lvl="0"/>
            <a:r>
              <a:rPr/>
              <a:t>固定 paper acquisition、parsing、retrieval、source-summary generation。</a:t>
            </a:r>
          </a:p>
          <a:p>
            <a:pPr lvl="0"/>
            <a:r>
              <a:rPr/>
              <a:t>变量只放在 page construction：证据理解、综合、grounding、结构、uncertainty handling、wiki integration。</a:t>
            </a:r>
          </a:p>
          <a:p>
            <a:pPr lvl="0"/>
            <a:r>
              <a:rPr/>
              <a:t>case 包含 required evidence、distractor、claim card、expected sections、must-not-assert claims。</a:t>
            </a:r>
          </a:p>
          <a:p>
            <a:pPr lvl="0"/>
            <a:r>
              <a:rPr/>
              <a:t>scoring 包括 harness compliance、wiki artifact validity、evidence coverage、uncertainty handling、lint status。</a:t>
            </a:r>
          </a:p>
          <a:p>
            <a:pPr lvl="0" indent="0" marL="0">
              <a:buNone/>
            </a:pPr>
            <a:r>
              <a:rPr/>
              <a:t>局限：这主要覆盖“固定证据合成”，还不能充分评估长周期设计任务、工具链执行、失败恢复和专家反馈闭环。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Benchmark 不应只评最终答案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建议的多维指标：</a:t>
            </a:r>
          </a:p>
          <a:p>
            <a:pPr lvl="0"/>
            <a:r>
              <a:rPr/>
              <a:t>正确性：最终结论是否被 evidence 支持。</a:t>
            </a:r>
          </a:p>
          <a:p>
            <a:pPr lvl="0"/>
            <a:r>
              <a:rPr/>
              <a:t>过程质量：是否使用了正确工具、正确顺序、正确边界。</a:t>
            </a:r>
          </a:p>
          <a:p>
            <a:pPr lvl="0"/>
            <a:r>
              <a:rPr/>
              <a:t>证据忠实性：是否引用给定 evidence，是否避免 unsupported extrapolation。</a:t>
            </a:r>
          </a:p>
          <a:p>
            <a:pPr lvl="0"/>
            <a:r>
              <a:rPr/>
              <a:t>鲁棒性：遇到下载失败、解析低质、证据冲突、工具错误时是否降级处理。</a:t>
            </a:r>
          </a:p>
          <a:p>
            <a:pPr lvl="0"/>
            <a:r>
              <a:rPr/>
              <a:t>成本：token、wall time、工具调用数、重试次数、人工介入次数。</a:t>
            </a:r>
          </a:p>
          <a:p>
            <a:pPr lvl="0"/>
            <a:r>
              <a:rPr/>
              <a:t>可追踪性：是否能从结论追溯到 source、artifact、tool output、experiment ref。</a:t>
            </a:r>
          </a:p>
          <a:p>
            <a:pPr lvl="0"/>
            <a:r>
              <a:rPr/>
              <a:t>长期稳定性：同一任务跨版本、跨模型、跨日期是否产生可解释差异。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自动评测、人工评测、LLM-as-judge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自动评测适合：</a:t>
            </a:r>
          </a:p>
          <a:p>
            <a:pPr lvl="0"/>
            <a:r>
              <a:rPr/>
              <a:t>schema 合规、工具权限、引用 key、lint issue、路径安全、运行是否超时。</a:t>
            </a:r>
          </a:p>
          <a:p>
            <a:pPr lvl="0"/>
            <a:r>
              <a:rPr/>
              <a:t>固定证据下的 must include / must not assert / source coverage。</a:t>
            </a:r>
          </a:p>
          <a:p>
            <a:pPr lvl="0" indent="0" marL="0">
              <a:buNone/>
            </a:pPr>
            <a:r>
              <a:rPr/>
              <a:t>人工评测适合：</a:t>
            </a:r>
          </a:p>
          <a:p>
            <a:pPr lvl="0"/>
            <a:r>
              <a:rPr/>
              <a:t>领域判断、设计合理性、实验假设、边界条件、专家可接受性。</a:t>
            </a:r>
          </a:p>
          <a:p>
            <a:pPr lvl="0"/>
            <a:r>
              <a:rPr/>
              <a:t>判断一个 failure record 是否真的暴露了有价值的工程问题。</a:t>
            </a:r>
          </a:p>
          <a:p>
            <a:pPr lvl="0" indent="0" marL="0">
              <a:buNone/>
            </a:pPr>
            <a:r>
              <a:rPr/>
              <a:t>LLM-as-judge 适合：</a:t>
            </a:r>
          </a:p>
          <a:p>
            <a:pPr lvl="0"/>
            <a:r>
              <a:rPr/>
              <a:t>结构清晰度、冗余度、综合质量、是否回答了问题。</a:t>
            </a:r>
          </a:p>
          <a:p>
            <a:pPr lvl="0"/>
            <a:r>
              <a:rPr/>
              <a:t>不适合作为唯一 pass/fail gate，尤其不能替代 provenance 和 domain checks。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Harness 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一个有研究价值的 agent harness 至少要做到：</a:t>
            </a:r>
          </a:p>
          <a:p>
            <a:pPr lvl="0"/>
            <a:r>
              <a:rPr/>
              <a:t>任务定义可版本化：case、input、evidence、expected、scoring 都是文件。</a:t>
            </a:r>
          </a:p>
          <a:p>
            <a:pPr lvl="0"/>
            <a:r>
              <a:rPr/>
              <a:t>工具面可冻结：不同模型看到同样的 allowed/forbidden tools。</a:t>
            </a:r>
          </a:p>
          <a:p>
            <a:pPr lvl="0"/>
            <a:r>
              <a:rPr/>
              <a:t>执行过程可回放：JSONL trace、tool event、workspace diff、failure class。</a:t>
            </a:r>
          </a:p>
          <a:p>
            <a:pPr lvl="0"/>
            <a:r>
              <a:rPr/>
              <a:t>状态可比较：每次运行的 artifacts、lint、health、cost、duration 都可归档。</a:t>
            </a:r>
          </a:p>
          <a:p>
            <a:pPr lvl="0"/>
            <a:r>
              <a:rPr/>
              <a:t>架构可替换：同一 benchmark 可运行 single agent、router-worker、多 agent graph。</a:t>
            </a:r>
          </a:p>
          <a:p>
            <a:pPr lvl="0"/>
            <a:r>
              <a:rPr/>
              <a:t>人工反馈可进入闭环：专家 correction 变成 wiki page、design record 或 benchmark update。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当前 harness 已具备的基础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已有基础：</a:t>
            </a:r>
          </a:p>
          <a:p>
            <a:pPr lvl="0"/>
            <a:r>
              <a:rPr/>
              <a:t>JSONL RPC agent，适合外部 bridge 或实验 runner 驱动。</a:t>
            </a:r>
          </a:p>
          <a:p>
            <a:pPr lvl="0"/>
            <a:r>
              <a:rPr>
                <a:latin typeface="Courier"/>
              </a:rPr>
              <a:t>createToolsForBoundary(workspaceDir, role)</a:t>
            </a:r>
            <a:r>
              <a:rPr/>
              <a:t> 支持 role-isolated tool surface。</a:t>
            </a:r>
          </a:p>
          <a:p>
            <a:pPr lvl="0"/>
            <a:r>
              <a:rPr/>
              <a:t>wiki typed schema、retrieval contract、claim provenance、typed relations、experiment refs。</a:t>
            </a:r>
          </a:p>
          <a:p>
            <a:pPr lvl="0"/>
            <a:r>
              <a:rPr/>
              <a:t>wiki health/lint/structure plan 支持确定性诊断和低风险修复。</a:t>
            </a:r>
          </a:p>
          <a:p>
            <a:pPr lvl="0"/>
            <a:r>
              <a:rPr/>
              <a:t>local wiki web viewer 可浏览页面和 graph。</a:t>
            </a:r>
          </a:p>
          <a:p>
            <a:pPr lvl="0"/>
            <a:r>
              <a:rPr/>
              <a:t>paper/design repo manager 能把 agent 产物纳入 Git 流程。</a:t>
            </a:r>
          </a:p>
          <a:p>
            <a:pPr lvl="0" indent="0" marL="0">
              <a:buNone/>
            </a:pPr>
            <a:r>
              <a:rPr/>
              <a:t>短板：</a:t>
            </a:r>
          </a:p>
          <a:p>
            <a:pPr lvl="0"/>
            <a:r>
              <a:rPr/>
              <a:t>benchmark runner 还未完全产品化。</a:t>
            </a:r>
          </a:p>
          <a:p>
            <a:pPr lvl="0"/>
            <a:r>
              <a:rPr/>
              <a:t>cost/trace/failure taxonomy 需要进一步规范。</a:t>
            </a:r>
          </a:p>
          <a:p>
            <a:pPr lvl="0"/>
            <a:r>
              <a:rPr/>
              <a:t>design-subagent 当前主要记录结构化 artifact，直接设计代码能力还很小。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超导量子芯片设计 agent：正确定位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当前计划不是“让 LLM 独立设计一颗可流片芯片”，而是：</a:t>
            </a:r>
          </a:p>
          <a:p>
            <a:pPr lvl="0"/>
            <a:r>
              <a:rPr/>
              <a:t>面向超导量子芯片设计的 evidence-first agentic infrastructure。</a:t>
            </a:r>
          </a:p>
          <a:p>
            <a:pPr lvl="0"/>
            <a:r>
              <a:rPr/>
              <a:t>把设计任务拆成：需求、假设、文献证据、参数、工具执行、验证报告、失败记录、专家修正。</a:t>
            </a:r>
          </a:p>
          <a:p>
            <a:pPr lvl="0"/>
            <a:r>
              <a:rPr/>
              <a:t>让 design agent 先做 bounded proposal 和 artifact writing，而不是绕过物理仿真、EDA、DRC 或专家审批。</a:t>
            </a:r>
          </a:p>
          <a:p>
            <a:pPr lvl="0"/>
            <a:r>
              <a:rPr/>
              <a:t>以 benchmark 方式推进：paper-to-layout reconstruction、frequency collision、coupler/readout constraint、package/layout check、QEC/layout compatibility。</a:t>
            </a:r>
          </a:p>
          <a:p>
            <a:pPr lvl="0" indent="0" marL="0">
              <a:buNone/>
            </a:pPr>
            <a:r>
              <a:rPr/>
              <a:t>安全表述：这是“验证导向的设计协作系统原型”，不是完成的自主芯片设计系统。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领域任务拆解草案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design request
  -&gt; retrieve wiki evidence and source summaries
  -&gt; produce assumptions and parameter schema
  -&gt; call deterministic design / analysis tools
  -&gt; write design record or verification report
  -&gt; run lint / checks / expert review
  -&gt; update wiki, failure records, and benchmark cases</a:t>
            </a:r>
          </a:p>
          <a:p>
            <a:pPr lvl="0" indent="0" marL="0">
              <a:buNone/>
            </a:pPr>
            <a:r>
              <a:rPr/>
              <a:t>首批任务建议：</a:t>
            </a:r>
          </a:p>
          <a:p>
            <a:pPr lvl="0"/>
            <a:r>
              <a:rPr/>
              <a:t>固定频率 transmon frequency allocation 与 collision analysis。</a:t>
            </a:r>
          </a:p>
          <a:p>
            <a:pPr lvl="0"/>
            <a:r>
              <a:rPr/>
              <a:t>coupler/readout constraints 的 evidence-grounded 约束抽取。</a:t>
            </a:r>
          </a:p>
          <a:p>
            <a:pPr lvl="0"/>
            <a:r>
              <a:rPr/>
              <a:t>paper-to-layout reconstruction：只评 evidence coverage 和 uncertainty label，不声称可制造。</a:t>
            </a:r>
          </a:p>
          <a:p>
            <a:pPr lvl="0"/>
            <a:r>
              <a:rPr/>
              <a:t>qLDPC / surface-code layout compatibility 的 open-problem mapping。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设计工作区与知识库分层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设计代码和知识记录需要分开：</a:t>
            </a:r>
          </a:p>
          <a:p>
            <a:pPr lvl="0"/>
            <a:r>
              <a:rPr>
                <a:latin typeface="Courier"/>
              </a:rPr>
              <a:t>design-projects/superconducting-qubit-chip/</a:t>
            </a:r>
          </a:p>
          <a:p>
            <a:pPr lvl="1"/>
            <a:r>
              <a:rPr/>
              <a:t>Python package：</a:t>
            </a:r>
            <a:r>
              <a:rPr>
                <a:latin typeface="Courier"/>
              </a:rPr>
              <a:t>pi_chip_design</a:t>
            </a:r>
          </a:p>
          <a:p>
            <a:pPr lvl="1"/>
            <a:r>
              <a:rPr/>
              <a:t>layout family、parameter schema、generator、verification helper、exporter。</a:t>
            </a:r>
          </a:p>
          <a:p>
            <a:pPr lvl="0"/>
            <a:r>
              <a:rPr>
                <a:latin typeface="Courier"/>
              </a:rPr>
              <a:t>knowledge-base/design-records/</a:t>
            </a:r>
          </a:p>
          <a:p>
            <a:pPr lvl="1"/>
            <a:r>
              <a:rPr/>
              <a:t>design record、verification report、failure record、benchmark case。</a:t>
            </a:r>
          </a:p>
          <a:p>
            <a:pPr lvl="0"/>
            <a:r>
              <a:rPr>
                <a:latin typeface="Courier"/>
              </a:rPr>
              <a:t>knowledge-base/pages/</a:t>
            </a:r>
          </a:p>
          <a:p>
            <a:pPr lvl="1"/>
            <a:r>
              <a:rPr/>
              <a:t>经 wiki-agent curated 的稳定知识、方法、概念和发现。</a:t>
            </a:r>
          </a:p>
          <a:p>
            <a:pPr lvl="0" indent="0" marL="0">
              <a:buNone/>
            </a:pPr>
            <a:r>
              <a:rPr/>
              <a:t>这能避免把一次性脚本、长期知识、论文写作和实验 benchmark 混在一起。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建议与外部团队共同讨论的实验协议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定义 3 类任务：</a:t>
            </a:r>
          </a:p>
          <a:p>
            <a:pPr lvl="1"/>
            <a:r>
              <a:rPr/>
              <a:t>fixed-evidence synthesis</a:t>
            </a:r>
          </a:p>
          <a:p>
            <a:pPr lvl="1"/>
            <a:r>
              <a:rPr/>
              <a:t>tool-grounded design/verification</a:t>
            </a:r>
          </a:p>
          <a:p>
            <a:pPr lvl="1"/>
            <a:r>
              <a:rPr/>
              <a:t>long-horizon research workflow</a:t>
            </a:r>
          </a:p>
          <a:p>
            <a:pPr lvl="0" indent="-342900" marL="342900">
              <a:buAutoNum type="arabicPeriod"/>
            </a:pPr>
            <a:r>
              <a:rPr/>
              <a:t>对每类任务约定：</a:t>
            </a:r>
          </a:p>
          <a:p>
            <a:pPr lvl="1"/>
            <a:r>
              <a:rPr/>
              <a:t>输入格式、工具权限、状态记录、失败分类、评分指标。</a:t>
            </a:r>
          </a:p>
          <a:p>
            <a:pPr lvl="0" indent="-342900" marL="342900">
              <a:buAutoNum type="arabicPeriod"/>
            </a:pPr>
            <a:r>
              <a:rPr/>
              <a:t>同一任务运行多个设置：</a:t>
            </a:r>
          </a:p>
          <a:p>
            <a:pPr lvl="1"/>
            <a:r>
              <a:rPr/>
              <a:t>single agent</a:t>
            </a:r>
          </a:p>
          <a:p>
            <a:pPr lvl="1"/>
            <a:r>
              <a:rPr/>
              <a:t>role-routed worker</a:t>
            </a:r>
          </a:p>
          <a:p>
            <a:pPr lvl="1"/>
            <a:r>
              <a:rPr/>
              <a:t>multi-agent graph</a:t>
            </a:r>
          </a:p>
          <a:p>
            <a:pPr lvl="1"/>
            <a:r>
              <a:rPr/>
              <a:t>different model backends</a:t>
            </a:r>
          </a:p>
          <a:p>
            <a:pPr lvl="0" indent="-342900" marL="342900">
              <a:buAutoNum type="arabicPeriod"/>
            </a:pPr>
            <a:r>
              <a:rPr/>
              <a:t>结果比较：</a:t>
            </a:r>
          </a:p>
          <a:p>
            <a:pPr lvl="1"/>
            <a:r>
              <a:rPr/>
              <a:t>final artifact</a:t>
            </a:r>
          </a:p>
          <a:p>
            <a:pPr lvl="1"/>
            <a:r>
              <a:rPr/>
              <a:t>trace quality</a:t>
            </a:r>
          </a:p>
          <a:p>
            <a:pPr lvl="1"/>
            <a:r>
              <a:rPr/>
              <a:t>cost and latency</a:t>
            </a:r>
          </a:p>
          <a:p>
            <a:pPr lvl="1"/>
            <a:r>
              <a:rPr/>
              <a:t>repairability</a:t>
            </a:r>
          </a:p>
          <a:p>
            <a:pPr lvl="1"/>
            <a:r>
              <a:rPr/>
              <a:t>expert review outcome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可作为合作切入点的 benchmark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优先从可控、可复现任务开始：</a:t>
            </a:r>
          </a:p>
          <a:p>
            <a:pPr lvl="0"/>
            <a:r>
              <a:rPr/>
              <a:t>Wiki page construction：固定 source summaries，评 synthesis 与 provenance。</a:t>
            </a:r>
          </a:p>
          <a:p>
            <a:pPr lvl="0"/>
            <a:r>
              <a:rPr/>
              <a:t>Citation faithfulness：给定 claim cards，检查 supported/refuted/not-enough-info。</a:t>
            </a:r>
          </a:p>
          <a:p>
            <a:pPr lvl="0"/>
            <a:r>
              <a:rPr/>
              <a:t>Frequency allocation mini-case：给定 chip graph 与 frequency constraints，评工具调用和 collision report。</a:t>
            </a:r>
          </a:p>
          <a:p>
            <a:pPr lvl="0"/>
            <a:r>
              <a:rPr/>
              <a:t>Paper-to-layout reconstruction：给定论文 evidence，生成 uncertainty-labeled reconstruction record。</a:t>
            </a:r>
          </a:p>
          <a:p>
            <a:pPr lvl="0"/>
            <a:r>
              <a:rPr/>
              <a:t>Failure recovery：注入 missing parse、download-blocked、conflicting evidence、broken experiment ref，评 agent 降级策略。</a:t>
            </a:r>
          </a:p>
          <a:p>
            <a:pPr lvl="0" indent="0" marL="0">
              <a:buNone/>
            </a:pPr>
            <a:r>
              <a:rPr/>
              <a:t>这些 case 可以逐步扩展为超导量子芯片设计 agent 的公开 benchmark。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需要向对方请教的问题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他们如何定义 agent trace？是否记录工具参数、模型中间推理摘要、workspace diff？</a:t>
            </a:r>
          </a:p>
          <a:p>
            <a:pPr lvl="0"/>
            <a:r>
              <a:rPr/>
              <a:t>他们的 benchmark 是否区分 model capability 和 harness capability？</a:t>
            </a:r>
          </a:p>
          <a:p>
            <a:pPr lvl="0"/>
            <a:r>
              <a:rPr/>
              <a:t>多 agent 编排中，状态同步和失败恢复如何做归因？</a:t>
            </a:r>
          </a:p>
          <a:p>
            <a:pPr lvl="0"/>
            <a:r>
              <a:rPr/>
              <a:t>LLM-as-judge 在他们的体系中承担多大权重？是否有人工专家 calibration？</a:t>
            </a:r>
          </a:p>
          <a:p>
            <a:pPr lvl="0"/>
            <a:r>
              <a:rPr/>
              <a:t>对长期任务，如何防止 benchmark 被一次性 prompt 或固定答案“刷分”？</a:t>
            </a:r>
          </a:p>
          <a:p>
            <a:pPr lvl="0"/>
            <a:r>
              <a:rPr/>
              <a:t>是否愿意共同定义一个 superconducting-chip-design mini-benchmark？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我们可以贡献的部分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一个正在演化的科研 agent harness 实例，而不是纯概念讨论。</a:t>
            </a:r>
          </a:p>
          <a:p>
            <a:pPr lvl="0"/>
            <a:r>
              <a:rPr/>
              <a:t>paper -&gt; source summary -&gt; wiki page -&gt; design record -&gt; manuscript 的端到端工作流。</a:t>
            </a:r>
          </a:p>
          <a:p>
            <a:pPr lvl="0"/>
            <a:r>
              <a:rPr/>
              <a:t>worker boundary、tool surface、wiki evidence contract、lint/health 的实现经验。</a:t>
            </a:r>
          </a:p>
          <a:p>
            <a:pPr lvl="0"/>
            <a:r>
              <a:rPr/>
              <a:t>超导量子芯片设计方向的早期任务分解、证据地图、benchmark 设想。</a:t>
            </a:r>
          </a:p>
          <a:p>
            <a:pPr lvl="0"/>
            <a:r>
              <a:rPr/>
              <a:t>对“从 demo 到实验系统”的工程问题清单：状态、日志、复跑、失败分类、成本、人工反馈。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期望合作产出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短期：</a:t>
            </a:r>
          </a:p>
          <a:p>
            <a:pPr lvl="0"/>
            <a:r>
              <a:rPr/>
              <a:t>对齐 agent harness 与 benchmark 的术语和日志格式。</a:t>
            </a:r>
          </a:p>
          <a:p>
            <a:pPr lvl="0"/>
            <a:r>
              <a:rPr/>
              <a:t>共同设计 3-5 个固定证据 benchmark case。</a:t>
            </a:r>
          </a:p>
          <a:p>
            <a:pPr lvl="0"/>
            <a:r>
              <a:rPr/>
              <a:t>交换单 agent / 多 worker / 多 agent 的对照实验结果。</a:t>
            </a:r>
          </a:p>
          <a:p>
            <a:pPr lvl="0" indent="0" marL="0">
              <a:buNone/>
            </a:pPr>
            <a:r>
              <a:rPr/>
              <a:t>中期：</a:t>
            </a:r>
          </a:p>
          <a:p>
            <a:pPr lvl="0"/>
            <a:r>
              <a:rPr/>
              <a:t>形成一套可复跑的 experiment runner 与 trace schema。</a:t>
            </a:r>
          </a:p>
          <a:p>
            <a:pPr lvl="0"/>
            <a:r>
              <a:rPr/>
              <a:t>在超导量子芯片设计 mini-benchmark 上比较不同 agent 架构。</a:t>
            </a:r>
          </a:p>
          <a:p>
            <a:pPr lvl="0"/>
            <a:r>
              <a:rPr/>
              <a:t>把专家评审意见转为 failure record、wiki update 和 benchmark regression case。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结束页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核心观点：</a:t>
            </a:r>
          </a:p>
          <a:p>
            <a:pPr lvl="0" indent="0" marL="1270000">
              <a:buNone/>
            </a:pPr>
            <a:r>
              <a:rPr sz="2000"/>
              <a:t>面向复杂科研与工程任务的 agent 系统，真正的研究对象不是一次漂亮回答，而是可追踪的工作流、可审计的状态、可复现的实验协议，以及能被专家持续修正的知识闭环。</a:t>
            </a:r>
          </a:p>
          <a:p>
            <a:pPr lvl="0" indent="0" marL="0">
              <a:buNone/>
            </a:pPr>
            <a:r>
              <a:rPr/>
              <a:t>讨论重点：我们能否共同定义一个从固定证据合成走向工具验证设计任务的 agent benchmark？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智能体系统、评测与实验 Harness 交流材料</dc:title>
  <dc:creator/>
  <cp:keywords/>
  <dc:description>基于 pi-agent-minimal-ts 现状与超导量子芯片设计 agent 计划的讨论 slide</dc:description>
  <dcterms:created xsi:type="dcterms:W3CDTF">2026-05-13T01:04:01Z</dcterms:created>
  <dcterms:modified xsi:type="dcterms:W3CDTF">2026-05-13T01:04:01Z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</Properties>
</file>