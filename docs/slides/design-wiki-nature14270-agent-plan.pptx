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Design-Wiki for Nature14270 Layout Reproduction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 development plan for a 9-qubit superconducting-chip data flywheel</a:t>
            </a:r>
            <a:br/>
            <a:br/>
            <a:r>
              <a:rPr/>
              <a:t>pi-agent-minimal-ts planning deck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2026-05-28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把 </a:t>
            </a:r>
            <a:r>
              <a:rPr>
                <a:latin typeface="Courier"/>
              </a:rPr>
              <a:t>nature14270</a:t>
            </a:r>
            <a:r>
              <a:rPr/>
              <a:t> 变成第一个可重复运行的 agent benchmark：</a:t>
            </a:r>
          </a:p>
          <a:p>
            <a:pPr lvl="0"/>
            <a:r>
              <a:rPr>
                <a:latin typeface="Courier"/>
              </a:rPr>
              <a:t>wiki-agent</a:t>
            </a:r>
            <a:r>
              <a:rPr/>
              <a:t> 读取本地论文、补充材料和图像资产</a:t>
            </a:r>
          </a:p>
          <a:p>
            <a:pPr lvl="0"/>
            <a:r>
              <a:rPr>
                <a:latin typeface="Courier"/>
              </a:rPr>
              <a:t>wiki-agent</a:t>
            </a:r>
            <a:r>
              <a:rPr/>
              <a:t> 抽取芯片设计约束和证据映射</a:t>
            </a:r>
          </a:p>
          <a:p>
            <a:pPr lvl="0"/>
            <a:r>
              <a:rPr>
                <a:latin typeface="Courier"/>
              </a:rPr>
              <a:t>design-agent</a:t>
            </a:r>
            <a:r>
              <a:rPr/>
              <a:t> 根据抽取结果生成 Layout IR、代码、GDS 和验证报告</a:t>
            </a:r>
          </a:p>
          <a:p>
            <a:pPr lvl="0"/>
            <a:r>
              <a:rPr>
                <a:latin typeface="Courier"/>
              </a:rPr>
              <a:t>wiki-agent</a:t>
            </a:r>
            <a:r>
              <a:rPr/>
              <a:t> 总结成功、失败和规则，沉淀为可检索 wiki</a:t>
            </a:r>
          </a:p>
          <a:p>
            <a:pPr lvl="0"/>
            <a:r>
              <a:rPr/>
              <a:t>下一篇论文或下一轮修正复用这些结构化记录</a:t>
            </a:r>
          </a:p>
          <a:p>
            <a:pPr lvl="0" indent="0" marL="0">
              <a:buNone/>
            </a:pPr>
            <a:r>
              <a:rPr/>
              <a:t>核心原则：主要任务由 agent 完成，我只开发能力、协议、测试和验收标准。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为什么选 Nature14270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nature14270</a:t>
            </a:r>
            <a:r>
              <a:rPr/>
              <a:t> 是合适的第一篇 benchmark：</a:t>
            </a:r>
          </a:p>
          <a:p>
            <a:pPr lvl="0"/>
            <a:r>
              <a:rPr/>
              <a:t>目标明确：一维 9-qubit repetition code</a:t>
            </a:r>
          </a:p>
          <a:p>
            <a:pPr lvl="0"/>
            <a:r>
              <a:rPr/>
              <a:t>器件明确：9 个 Xmon transmon qubits</a:t>
            </a:r>
          </a:p>
          <a:p>
            <a:pPr lvl="0"/>
            <a:r>
              <a:rPr/>
              <a:t>拓扑明确：5 个 data qubits + 4 个 measurement qubits，交替排列</a:t>
            </a:r>
          </a:p>
          <a:p>
            <a:pPr lvl="0"/>
            <a:r>
              <a:rPr/>
              <a:t>连接明确：nearest-neighbour coupling</a:t>
            </a:r>
          </a:p>
          <a:p>
            <a:pPr lvl="0"/>
            <a:r>
              <a:rPr/>
              <a:t>证据丰富：主文、Figure 1、supplement、Table S3、readout/filter/fabrication 说明</a:t>
            </a:r>
          </a:p>
          <a:p>
            <a:pPr lvl="0"/>
            <a:r>
              <a:rPr/>
              <a:t>边界清楚：适合做 paper-faithful reconstruction，不适合直接声称 mask-ready</a:t>
            </a:r>
          </a:p>
          <a:p>
            <a:pPr lvl="0" indent="0" marL="0">
              <a:buNone/>
            </a:pPr>
            <a:r>
              <a:rPr/>
              <a:t>官方页面：</a:t>
            </a:r>
            <a:r>
              <a:rPr>
                <a:latin typeface="Courier"/>
              </a:rPr>
              <a:t>https://www.nature.com/articles/nature14270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本地证据状态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当前知识库中已有 </a:t>
            </a:r>
            <a:r>
              <a:rPr>
                <a:latin typeface="Courier"/>
              </a:rPr>
              <a:t>nature-nature14270</a:t>
            </a:r>
            <a:r>
              <a:rPr/>
              <a:t>：</a:t>
            </a:r>
          </a:p>
          <a:p>
            <a:pPr lvl="0"/>
            <a:r>
              <a:rPr>
                <a:latin typeface="Courier"/>
              </a:rPr>
              <a:t>metadata.json</a:t>
            </a:r>
            <a:r>
              <a:rPr/>
              <a:t>：标题、DOI、作者、citation、tags、artifact paths 完整</a:t>
            </a:r>
          </a:p>
          <a:p>
            <a:pPr lvl="0"/>
            <a:r>
              <a:rPr>
                <a:latin typeface="Courier"/>
              </a:rPr>
              <a:t>acquisition.json</a:t>
            </a:r>
            <a:r>
              <a:rPr/>
              <a:t>：Nature URL、PDF、webpage parse、supplemental material 记录</a:t>
            </a:r>
          </a:p>
          <a:p>
            <a:pPr lvl="0"/>
            <a:r>
              <a:rPr>
                <a:latin typeface="Courier"/>
              </a:rPr>
              <a:t>parses/webpage/document.md</a:t>
            </a:r>
            <a:r>
              <a:rPr/>
              <a:t>：主文 markdown，质量状态 good</a:t>
            </a:r>
          </a:p>
          <a:p>
            <a:pPr lvl="0"/>
            <a:r>
              <a:rPr>
                <a:latin typeface="Courier"/>
              </a:rPr>
              <a:t>parses/docling/supplement.md</a:t>
            </a:r>
            <a:r>
              <a:rPr/>
              <a:t>：补充材料解析</a:t>
            </a:r>
          </a:p>
          <a:p>
            <a:pPr lvl="0"/>
            <a:r>
              <a:rPr>
                <a:latin typeface="Courier"/>
              </a:rPr>
              <a:t>parses/webpage/assets/</a:t>
            </a:r>
            <a:r>
              <a:rPr/>
              <a:t>：论文图像资产</a:t>
            </a:r>
          </a:p>
          <a:p>
            <a:pPr lvl="0"/>
            <a:r>
              <a:rPr>
                <a:latin typeface="Courier"/>
              </a:rPr>
              <a:t>summary.md</a:t>
            </a:r>
            <a:r>
              <a:rPr/>
              <a:t>：已经有论文摘要和关键结论</a:t>
            </a:r>
          </a:p>
          <a:p>
            <a:pPr lvl="0" indent="0" marL="0">
              <a:buNone/>
            </a:pPr>
            <a:r>
              <a:rPr/>
              <a:t>这意味着第一阶段不需要解决下载问题，而要解决“设计抽取和执行闭环”。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已开发：系统边界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 repo 已有清晰的公共边界：</a:t>
            </a:r>
          </a:p>
          <a:p>
            <a:pPr lvl="0"/>
            <a:r>
              <a:rPr>
                <a:latin typeface="Courier"/>
              </a:rPr>
              <a:t>wiki-agent</a:t>
            </a:r>
          </a:p>
          <a:p>
            <a:pPr lvl="1"/>
            <a:r>
              <a:rPr/>
              <a:t>负责论文、wiki、source summary、evidence、页面治理</a:t>
            </a:r>
          </a:p>
          <a:p>
            <a:pPr lvl="1"/>
            <a:r>
              <a:rPr/>
              <a:t>可读 design-agent 输出</a:t>
            </a:r>
          </a:p>
          <a:p>
            <a:pPr lvl="1"/>
            <a:r>
              <a:rPr/>
              <a:t>不直接编辑 design-code、不运行 layout 脚本</a:t>
            </a:r>
          </a:p>
          <a:p>
            <a:pPr lvl="0"/>
            <a:r>
              <a:rPr>
                <a:latin typeface="Courier"/>
              </a:rPr>
              <a:t>design-agent</a:t>
            </a:r>
          </a:p>
          <a:p>
            <a:pPr lvl="1"/>
            <a:r>
              <a:rPr/>
              <a:t>负责 design-code、Python 依赖、layout 脚本、GDS、设计记录和验证</a:t>
            </a:r>
          </a:p>
          <a:p>
            <a:pPr lvl="1"/>
            <a:r>
              <a:rPr/>
              <a:t>可读本地 wiki/paper evidence</a:t>
            </a:r>
          </a:p>
          <a:p>
            <a:pPr lvl="1"/>
            <a:r>
              <a:rPr/>
              <a:t>不写 wiki 页面、不下载论文、不 web search</a:t>
            </a:r>
          </a:p>
          <a:p>
            <a:pPr lvl="0"/>
            <a:r>
              <a:rPr/>
              <a:t>Feishu bridge 默认连接 </a:t>
            </a:r>
            <a:r>
              <a:rPr>
                <a:latin typeface="Courier"/>
              </a:rPr>
              <a:t>wiki-agent:rpc</a:t>
            </a:r>
          </a:p>
          <a:p>
            <a:pPr lvl="0" indent="0" marL="0">
              <a:buNone/>
            </a:pPr>
            <a:r>
              <a:rPr/>
              <a:t>这个边界适合数据飞轮：执行和知识沉淀分离。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已开发：Wiki / Paper 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当前已具备：</a:t>
            </a:r>
          </a:p>
          <a:p>
            <a:pPr lvl="0"/>
            <a:r>
              <a:rPr/>
              <a:t>paper search/download/parse/read/search</a:t>
            </a:r>
          </a:p>
          <a:p>
            <a:pPr lvl="0"/>
            <a:r>
              <a:rPr/>
              <a:t>source metadata、summary、acquisition record</a:t>
            </a:r>
          </a:p>
          <a:p>
            <a:pPr lvl="0"/>
            <a:r>
              <a:rPr/>
              <a:t>webpage parse 和 supplemental material parse</a:t>
            </a:r>
          </a:p>
          <a:p>
            <a:pPr lvl="0"/>
            <a:r>
              <a:rPr/>
              <a:t>source summary 生成</a:t>
            </a:r>
          </a:p>
          <a:p>
            <a:pPr lvl="0"/>
            <a:r>
              <a:rPr/>
              <a:t>typed wiki page schema</a:t>
            </a:r>
          </a:p>
          <a:p>
            <a:pPr lvl="0"/>
            <a:r>
              <a:rPr/>
              <a:t>claim provenance、knowledge state、freshness、typed relations</a:t>
            </a:r>
          </a:p>
          <a:p>
            <a:pPr lvl="0"/>
            <a:r>
              <a:rPr/>
              <a:t>wiki health / lint / review / structure plan</a:t>
            </a:r>
          </a:p>
          <a:p>
            <a:pPr lvl="0"/>
            <a:r>
              <a:rPr/>
              <a:t>evidence worker / paper download worker / paper writing worker 边界</a:t>
            </a:r>
          </a:p>
          <a:p>
            <a:pPr lvl="0" indent="0" marL="0">
              <a:buNone/>
            </a:pPr>
            <a:r>
              <a:rPr/>
              <a:t>不足：还没有“从论文抽取芯片设计约束”的专门 workflow。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已开发：Design-Agent 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 </a:t>
            </a:r>
            <a:r>
              <a:rPr>
                <a:latin typeface="Courier"/>
              </a:rPr>
              <a:t>design-agent</a:t>
            </a:r>
            <a:r>
              <a:rPr/>
              <a:t> 已具备：</a:t>
            </a:r>
          </a:p>
          <a:p>
            <a:pPr lvl="0"/>
            <a:r>
              <a:rPr>
                <a:latin typeface="Courier"/>
              </a:rPr>
              <a:t>write_design_code_file</a:t>
            </a:r>
          </a:p>
          <a:p>
            <a:pPr lvl="0"/>
            <a:r>
              <a:rPr>
                <a:latin typeface="Courier"/>
              </a:rPr>
              <a:t>replace_design_code_file_text</a:t>
            </a:r>
          </a:p>
          <a:p>
            <a:pPr lvl="0"/>
            <a:r>
              <a:rPr>
                <a:latin typeface="Courier"/>
              </a:rPr>
              <a:t>update_design_dependency</a:t>
            </a:r>
          </a:p>
          <a:p>
            <a:pPr lvl="0"/>
            <a:r>
              <a:rPr>
                <a:latin typeface="Courier"/>
              </a:rPr>
              <a:t>sync_design_environment</a:t>
            </a:r>
          </a:p>
          <a:p>
            <a:pPr lvl="0"/>
            <a:r>
              <a:rPr>
                <a:latin typeface="Courier"/>
              </a:rPr>
              <a:t>verify_design_python_import</a:t>
            </a:r>
          </a:p>
          <a:p>
            <a:pPr lvl="0"/>
            <a:r>
              <a:rPr>
                <a:latin typeface="Courier"/>
              </a:rPr>
              <a:t>run_design_script</a:t>
            </a:r>
          </a:p>
          <a:p>
            <a:pPr lvl="0"/>
            <a:r>
              <a:rPr>
                <a:latin typeface="Courier"/>
              </a:rPr>
              <a:t>submit_design_simulation</a:t>
            </a:r>
          </a:p>
          <a:p>
            <a:pPr lvl="0"/>
            <a:r>
              <a:rPr>
                <a:latin typeface="Courier"/>
              </a:rPr>
              <a:t>write_design_artifact</a:t>
            </a:r>
          </a:p>
          <a:p>
            <a:pPr lvl="0" indent="0" marL="0">
              <a:buNone/>
            </a:pPr>
            <a:r>
              <a:rPr/>
              <a:t>设计侧可以写代码、同步 </a:t>
            </a:r>
            <a:r>
              <a:rPr>
                <a:latin typeface="Courier"/>
              </a:rPr>
              <a:t>uv</a:t>
            </a:r>
            <a:r>
              <a:rPr/>
              <a:t> 环境、运行 Python/KLayout 脚本、提交 Q3D-like remote simulation、写 design records。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已开发：Design-Code 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design-repo/design-code/</a:t>
            </a:r>
            <a:r>
              <a:rPr/>
              <a:t> 已经是一个 Python design package：</a:t>
            </a:r>
          </a:p>
          <a:p>
            <a:pPr lvl="0"/>
            <a:r>
              <a:rPr>
                <a:latin typeface="Courier"/>
              </a:rPr>
              <a:t>core/</a:t>
            </a:r>
            <a:r>
              <a:rPr/>
              <a:t>：backend-independent layout model 和 layer definitions</a:t>
            </a:r>
          </a:p>
          <a:p>
            <a:pPr lvl="0"/>
            <a:r>
              <a:rPr>
                <a:latin typeface="Courier"/>
              </a:rPr>
              <a:t>backends/</a:t>
            </a:r>
            <a:r>
              <a:rPr/>
              <a:t>：</a:t>
            </a:r>
            <a:r>
              <a:rPr>
                <a:latin typeface="Courier"/>
              </a:rPr>
              <a:t>gdstk</a:t>
            </a:r>
            <a:r>
              <a:rPr/>
              <a:t> backend、Quantum Metal backend</a:t>
            </a:r>
          </a:p>
          <a:p>
            <a:pPr lvl="0"/>
            <a:r>
              <a:rPr>
                <a:latin typeface="Courier"/>
              </a:rPr>
              <a:t>templates/</a:t>
            </a:r>
            <a:r>
              <a:rPr/>
              <a:t>：single transmon、10-qubit concept</a:t>
            </a:r>
          </a:p>
          <a:p>
            <a:pPr lvl="0"/>
            <a:r>
              <a:rPr>
                <a:latin typeface="Courier"/>
              </a:rPr>
              <a:t>layouts/</a:t>
            </a:r>
            <a:r>
              <a:rPr/>
              <a:t>：可执行 layout entrypoints</a:t>
            </a:r>
          </a:p>
          <a:p>
            <a:pPr lvl="0"/>
            <a:r>
              <a:rPr>
                <a:latin typeface="Courier"/>
              </a:rPr>
              <a:t>simulation/</a:t>
            </a:r>
            <a:r>
              <a:rPr/>
              <a:t>：Q3D capacitance manifest、remote solver protocol</a:t>
            </a:r>
          </a:p>
          <a:p>
            <a:pPr lvl="0"/>
            <a:r>
              <a:rPr>
                <a:latin typeface="Courier"/>
              </a:rPr>
              <a:t>tests/</a:t>
            </a:r>
            <a:r>
              <a:rPr/>
              <a:t>：template、GDS renderer、simulation manifest、remote solver 测试</a:t>
            </a:r>
          </a:p>
          <a:p>
            <a:pPr lvl="0" indent="0" marL="0">
              <a:buNone/>
            </a:pPr>
            <a:r>
              <a:rPr/>
              <a:t>已有能力证明 agent 可以产出真实 artifact，不只是写说明。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已开发：已有设计记录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已有记录说明方向正确，但也暴露治理问题：</a:t>
            </a:r>
          </a:p>
          <a:p>
            <a:pPr lvl="0"/>
            <a:r>
              <a:rPr>
                <a:latin typeface="Courier"/>
              </a:rPr>
              <a:t>single-xmon-concept</a:t>
            </a:r>
            <a:r>
              <a:rPr/>
              <a:t>：已有 KLayout script + GDS + manifest</a:t>
            </a:r>
          </a:p>
          <a:p>
            <a:pPr lvl="0"/>
            <a:r>
              <a:rPr>
                <a:latin typeface="Courier"/>
              </a:rPr>
              <a:t>ten_qubit_chip_concept</a:t>
            </a:r>
            <a:r>
              <a:rPr/>
              <a:t>：已有 10-qubit conceptual layout record</a:t>
            </a:r>
          </a:p>
          <a:p>
            <a:pPr lvl="0"/>
            <a:r>
              <a:rPr>
                <a:latin typeface="Courier"/>
              </a:rPr>
              <a:t>superconducting_chip_kb_sufficiency_assessment</a:t>
            </a:r>
            <a:r>
              <a:rPr/>
              <a:t>：已记录当前知识不足以支持可投片设计</a:t>
            </a:r>
          </a:p>
          <a:p>
            <a:pPr lvl="0"/>
            <a:r>
              <a:rPr>
                <a:latin typeface="Courier"/>
              </a:rPr>
              <a:t>paper-to-chip-layout-benchmark-idea</a:t>
            </a:r>
            <a:r>
              <a:rPr/>
              <a:t>：已有 paper-to-layout benchmark 雏形</a:t>
            </a:r>
          </a:p>
          <a:p>
            <a:pPr lvl="0" indent="0" marL="0">
              <a:buNone/>
            </a:pPr>
            <a:r>
              <a:rPr/>
              <a:t>需要修正：旧记录中仍有历史路径和非统一记录结构，不能作为长期 flywheel contract。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当前缺口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离 “agent 自己复现 Nature14270 版图” 还缺：</a:t>
            </a:r>
          </a:p>
          <a:p>
            <a:pPr lvl="0"/>
            <a:r>
              <a:rPr/>
              <a:t>设计抽取 schema：论文内容如何变成机器可读设计约束</a:t>
            </a:r>
          </a:p>
          <a:p>
            <a:pPr lvl="0"/>
            <a:r>
              <a:rPr/>
              <a:t>Layout IR：抽取结果如何变成可检查、可渲染布局</a:t>
            </a:r>
          </a:p>
          <a:p>
            <a:pPr lvl="0"/>
            <a:r>
              <a:rPr/>
              <a:t>Evidence map：每个设计选择来自哪一段、哪张图、哪张表</a:t>
            </a:r>
          </a:p>
          <a:p>
            <a:pPr lvl="0"/>
            <a:r>
              <a:rPr/>
              <a:t>Uncertainty policy：缺失尺寸和推断必须显式标注</a:t>
            </a:r>
          </a:p>
          <a:p>
            <a:pPr lvl="0"/>
            <a:r>
              <a:rPr/>
              <a:t>Verifier：检查 9 qubits、5 data、4 measurement、8 couplings、readout/control 等</a:t>
            </a:r>
          </a:p>
          <a:p>
            <a:pPr lvl="0"/>
            <a:r>
              <a:rPr/>
              <a:t>Handoff contract：design-agent 输出如何被 wiki-agent 消化</a:t>
            </a:r>
          </a:p>
          <a:p>
            <a:pPr lvl="0"/>
            <a:r>
              <a:rPr/>
              <a:t>Benchmark scoring：如何判断 agent 真的比上轮更好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目标产物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第一条完整 flywheel 应产出：</a:t>
            </a:r>
          </a:p>
          <a:p>
            <a:pPr lvl="0"/>
            <a:r>
              <a:rPr>
                <a:latin typeface="Courier"/>
              </a:rPr>
              <a:t>nature14270-extraction.json</a:t>
            </a:r>
          </a:p>
          <a:p>
            <a:pPr lvl="0"/>
            <a:r>
              <a:rPr>
                <a:latin typeface="Courier"/>
              </a:rPr>
              <a:t>nature14270-layout-ir.json</a:t>
            </a:r>
          </a:p>
          <a:p>
            <a:pPr lvl="0"/>
            <a:r>
              <a:rPr>
                <a:latin typeface="Courier"/>
              </a:rPr>
              <a:t>nature14270-repetition-code.py</a:t>
            </a:r>
          </a:p>
          <a:p>
            <a:pPr lvl="0"/>
            <a:r>
              <a:rPr>
                <a:latin typeface="Courier"/>
              </a:rPr>
              <a:t>nature14270-repetition-code.gds</a:t>
            </a:r>
          </a:p>
          <a:p>
            <a:pPr lvl="0"/>
            <a:r>
              <a:rPr>
                <a:latin typeface="Courier"/>
              </a:rPr>
              <a:t>nature14270-verification.json</a:t>
            </a:r>
          </a:p>
          <a:p>
            <a:pPr lvl="0"/>
            <a:r>
              <a:rPr>
                <a:latin typeface="Courier"/>
              </a:rPr>
              <a:t>nature14270-verification.md</a:t>
            </a:r>
          </a:p>
          <a:p>
            <a:pPr lvl="0"/>
            <a:r>
              <a:rPr>
                <a:latin typeface="Courier"/>
              </a:rPr>
              <a:t>nature14270-wiki-followup.md</a:t>
            </a:r>
          </a:p>
          <a:p>
            <a:pPr lvl="0"/>
            <a:r>
              <a:rPr/>
              <a:t>wiki pages：method、dataset、finding、design-record</a:t>
            </a:r>
          </a:p>
          <a:p>
            <a:pPr lvl="0" indent="0" marL="0">
              <a:buNone/>
            </a:pPr>
            <a:r>
              <a:rPr/>
              <a:t>这些文件不是手工填答案，而是 agent workflow 的输出和回归测试对象。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关键设计：Extraction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wiki-agent</a:t>
            </a:r>
            <a:r>
              <a:rPr/>
              <a:t> 要先输出结构化抽取：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"sourceKey"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"nature-nature14270"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"device"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"qubitCount"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"qubitType"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"Xmon transmon"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"architecture"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"linear repetition code"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"roles"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"couplingGraph"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"readout"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"fabrication"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"parameters"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"evidenceMap"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"unknowns"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[]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核心要求：unknown 比 hallucination 好。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关键设计：Layout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design-agent</a:t>
            </a:r>
            <a:r>
              <a:rPr/>
              <a:t> 不应直接从自然语言写 GDS。</a:t>
            </a:r>
          </a:p>
          <a:p>
            <a:pPr lvl="0" indent="0" marL="0">
              <a:buNone/>
            </a:pPr>
            <a:r>
              <a:rPr/>
              <a:t>推荐中间层：</a:t>
            </a:r>
          </a:p>
          <a:p>
            <a:pPr lvl="0"/>
            <a:r>
              <a:rPr>
                <a:latin typeface="Courier"/>
              </a:rPr>
              <a:t>components</a:t>
            </a:r>
            <a:r>
              <a:rPr/>
              <a:t>：qubits、readout resonators、filter、ports、markers</a:t>
            </a:r>
          </a:p>
          <a:p>
            <a:pPr lvl="0"/>
            <a:r>
              <a:rPr>
                <a:latin typeface="Courier"/>
              </a:rPr>
              <a:t>routes</a:t>
            </a:r>
            <a:r>
              <a:rPr/>
              <a:t>：couplers、XY、Z、readout feedline、ground bridges</a:t>
            </a:r>
          </a:p>
          <a:p>
            <a:pPr lvl="0"/>
            <a:r>
              <a:rPr>
                <a:latin typeface="Courier"/>
              </a:rPr>
              <a:t>layers</a:t>
            </a:r>
            <a:r>
              <a:rPr/>
              <a:t>：metal、junction、control、readout、crossover、label</a:t>
            </a:r>
          </a:p>
          <a:p>
            <a:pPr lvl="0"/>
            <a:r>
              <a:rPr>
                <a:latin typeface="Courier"/>
              </a:rPr>
              <a:t>parameters</a:t>
            </a:r>
            <a:r>
              <a:rPr/>
              <a:t>：frequency、coupling、resonator、fabrication notes</a:t>
            </a:r>
          </a:p>
          <a:p>
            <a:pPr lvl="0"/>
            <a:r>
              <a:rPr>
                <a:latin typeface="Courier"/>
              </a:rPr>
              <a:t>assumptions</a:t>
            </a:r>
            <a:r>
              <a:rPr/>
              <a:t>：论文未给出的尺寸和位置</a:t>
            </a:r>
          </a:p>
          <a:p>
            <a:pPr lvl="0"/>
            <a:r>
              <a:rPr>
                <a:latin typeface="Courier"/>
              </a:rPr>
              <a:t>evidenceRefs</a:t>
            </a:r>
            <a:r>
              <a:rPr/>
              <a:t>：每个组件和参数的来源</a:t>
            </a:r>
          </a:p>
          <a:p>
            <a:pPr lvl="0" indent="0" marL="0">
              <a:buNone/>
            </a:pPr>
            <a:r>
              <a:rPr/>
              <a:t>GDS 是 IR 的渲染结果，不是唯一真相。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关键设计：Verifier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v0 verifier 检查结构正确：</a:t>
            </a:r>
          </a:p>
          <a:p>
            <a:pPr lvl="0"/>
            <a:r>
              <a:rPr/>
              <a:t>qubit_count = 9</a:t>
            </a:r>
          </a:p>
          <a:p>
            <a:pPr lvl="0"/>
            <a:r>
              <a:rPr/>
              <a:t>data qubits = 5</a:t>
            </a:r>
          </a:p>
          <a:p>
            <a:pPr lvl="0"/>
            <a:r>
              <a:rPr/>
              <a:t>measurement qubits = 4</a:t>
            </a:r>
          </a:p>
          <a:p>
            <a:pPr lvl="0"/>
            <a:r>
              <a:rPr/>
              <a:t>linear alternating pattern</a:t>
            </a:r>
          </a:p>
          <a:p>
            <a:pPr lvl="0"/>
            <a:r>
              <a:rPr/>
              <a:t>nearest-neighbour coupling edges = 8</a:t>
            </a:r>
          </a:p>
          <a:p>
            <a:pPr lvl="0"/>
            <a:r>
              <a:rPr/>
              <a:t>every qubit has control/readout representation</a:t>
            </a:r>
          </a:p>
          <a:p>
            <a:pPr lvl="0"/>
            <a:r>
              <a:rPr/>
              <a:t>Table S3 参数被映射或明确标注缺失</a:t>
            </a:r>
          </a:p>
          <a:p>
            <a:pPr lvl="0"/>
            <a:r>
              <a:rPr/>
              <a:t>all inferred geometry has assumptions</a:t>
            </a:r>
          </a:p>
          <a:p>
            <a:pPr lvl="0"/>
            <a:r>
              <a:rPr/>
              <a:t>GDS file exists and can be parsed</a:t>
            </a:r>
          </a:p>
          <a:p>
            <a:pPr lvl="0" indent="0" marL="0">
              <a:buNone/>
            </a:pPr>
            <a:r>
              <a:rPr/>
              <a:t>v1 verifier 增加 DRC-like checks 和 topology-to-GDS consistency。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wiki-agent
  read source metadata + webpage parse + supplement parse + figures
  -&gt; write extraction.json
  -&gt; mark unknowns and evidence refs
design-agent
  read extraction.json
  -&gt; write layout_ir.json
  -&gt; write/update design-code template
  -&gt; run script and produce GDS
  -&gt; run verifier and write records
wiki-agent
  read design records
  -&gt; summarize reusable rules
  -&gt; update wiki pages and benchmark state</a:t>
            </a:r>
          </a:p>
          <a:p>
            <a:pPr lvl="0" indent="0" marL="0">
              <a:buNone/>
            </a:pPr>
            <a:r>
              <a:rPr/>
              <a:t>这个工作流是要开发出来并让 agent 运行，不由人工代跑主流程。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阶段 0：Benchmark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目标：把 Nature14270 定义成固定 benchmark。</a:t>
            </a:r>
          </a:p>
          <a:p>
            <a:pPr lvl="0" indent="0" marL="0">
              <a:buNone/>
            </a:pPr>
            <a:r>
              <a:rPr/>
              <a:t>要做：</a:t>
            </a:r>
          </a:p>
          <a:p>
            <a:pPr lvl="0"/>
            <a:r>
              <a:rPr/>
              <a:t>新增 benchmark case 文档</a:t>
            </a:r>
          </a:p>
          <a:p>
            <a:pPr lvl="0"/>
            <a:r>
              <a:rPr/>
              <a:t>定义 extraction schema</a:t>
            </a:r>
          </a:p>
          <a:p>
            <a:pPr lvl="0"/>
            <a:r>
              <a:rPr/>
              <a:t>定义 layout IR schema</a:t>
            </a:r>
          </a:p>
          <a:p>
            <a:pPr lvl="0"/>
            <a:r>
              <a:rPr/>
              <a:t>定义 verifier 输出格式</a:t>
            </a:r>
          </a:p>
          <a:p>
            <a:pPr lvl="0"/>
            <a:r>
              <a:rPr/>
              <a:t>定义 scoring rubric</a:t>
            </a:r>
          </a:p>
          <a:p>
            <a:pPr lvl="0"/>
            <a:r>
              <a:rPr/>
              <a:t>定义人工 correction JSONL 格式</a:t>
            </a:r>
          </a:p>
          <a:p>
            <a:pPr lvl="0" indent="0" marL="0">
              <a:buNone/>
            </a:pPr>
            <a:r>
              <a:rPr/>
              <a:t>验收：</a:t>
            </a:r>
          </a:p>
          <a:p>
            <a:pPr lvl="0"/>
            <a:r>
              <a:rPr/>
              <a:t>不需要生成 GDS</a:t>
            </a:r>
          </a:p>
          <a:p>
            <a:pPr lvl="0"/>
            <a:r>
              <a:rPr/>
              <a:t>能清楚说明哪些输出由 wiki-agent 产生，哪些由 design-agent 产生</a:t>
            </a:r>
          </a:p>
          <a:p>
            <a:pPr lvl="0"/>
            <a:r>
              <a:rPr/>
              <a:t>能作为后续自动化测试的输入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阶段 1：Wiki-Agent 抽取能力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目标：让 </a:t>
            </a:r>
            <a:r>
              <a:rPr>
                <a:latin typeface="Courier"/>
              </a:rPr>
              <a:t>wiki-agent</a:t>
            </a:r>
            <a:r>
              <a:rPr/>
              <a:t> 从本地 source 自动生成 design extraction。</a:t>
            </a:r>
          </a:p>
          <a:p>
            <a:pPr lvl="0" indent="0" marL="0">
              <a:buNone/>
            </a:pPr>
            <a:r>
              <a:rPr/>
              <a:t>要做：</a:t>
            </a:r>
          </a:p>
          <a:p>
            <a:pPr lvl="0"/>
            <a:r>
              <a:rPr/>
              <a:t>新增 paper-to-design-extraction workflow</a:t>
            </a:r>
          </a:p>
          <a:p>
            <a:pPr lvl="0"/>
            <a:r>
              <a:rPr/>
              <a:t>读取主文、补充材料、图像资产索引</a:t>
            </a:r>
          </a:p>
          <a:p>
            <a:pPr lvl="0"/>
            <a:r>
              <a:rPr/>
              <a:t>抽取 device topology、role assignment、parameter tables、fabrication notes</a:t>
            </a:r>
          </a:p>
          <a:p>
            <a:pPr lvl="0"/>
            <a:r>
              <a:rPr/>
              <a:t>写 </a:t>
            </a:r>
            <a:r>
              <a:rPr>
                <a:latin typeface="Courier"/>
              </a:rPr>
              <a:t>nature14270-extraction.json</a:t>
            </a:r>
          </a:p>
          <a:p>
            <a:pPr lvl="0"/>
            <a:r>
              <a:rPr/>
              <a:t>写缺失项和不确定性</a:t>
            </a:r>
          </a:p>
          <a:p>
            <a:pPr lvl="0" indent="0" marL="0">
              <a:buNone/>
            </a:pPr>
            <a:r>
              <a:rPr/>
              <a:t>验收：</a:t>
            </a:r>
          </a:p>
          <a:p>
            <a:pPr lvl="0"/>
            <a:r>
              <a:rPr/>
              <a:t>输出中不出现无证据尺寸</a:t>
            </a:r>
          </a:p>
          <a:p>
            <a:pPr lvl="0"/>
            <a:r>
              <a:rPr/>
              <a:t>每个关键字段有 source locator</a:t>
            </a:r>
          </a:p>
          <a:p>
            <a:pPr lvl="0"/>
            <a:r>
              <a:rPr/>
              <a:t>能复跑并保持稳定结构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阶段 2：Design-Agent 布局生成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目标：让 </a:t>
            </a:r>
            <a:r>
              <a:rPr>
                <a:latin typeface="Courier"/>
              </a:rPr>
              <a:t>design-agent</a:t>
            </a:r>
            <a:r>
              <a:rPr/>
              <a:t> 从 extraction 生成可执行布局。</a:t>
            </a:r>
          </a:p>
          <a:p>
            <a:pPr lvl="0" indent="0" marL="0">
              <a:buNone/>
            </a:pPr>
            <a:r>
              <a:rPr/>
              <a:t>要做：</a:t>
            </a:r>
          </a:p>
          <a:p>
            <a:pPr lvl="0"/>
            <a:r>
              <a:rPr/>
              <a:t>新增 9-qubit Xmon repetition-code template</a:t>
            </a:r>
          </a:p>
          <a:p>
            <a:pPr lvl="0"/>
            <a:r>
              <a:rPr/>
              <a:t>支持从 Layout IR 构造 layout model</a:t>
            </a:r>
          </a:p>
          <a:p>
            <a:pPr lvl="0"/>
            <a:r>
              <a:rPr/>
              <a:t>生成 GDS 和 layout summary</a:t>
            </a:r>
          </a:p>
          <a:p>
            <a:pPr lvl="0"/>
            <a:r>
              <a:rPr/>
              <a:t>保持 </a:t>
            </a:r>
            <a:r>
              <a:rPr>
                <a:latin typeface="Courier"/>
              </a:rPr>
              <a:t>design-repo/design-code/</a:t>
            </a:r>
            <a:r>
              <a:rPr/>
              <a:t> 边界</a:t>
            </a:r>
          </a:p>
          <a:p>
            <a:pPr lvl="0"/>
            <a:r>
              <a:rPr/>
              <a:t>写 design artifact manifest</a:t>
            </a:r>
          </a:p>
          <a:p>
            <a:pPr lvl="0" indent="0" marL="0">
              <a:buNone/>
            </a:pPr>
            <a:r>
              <a:rPr/>
              <a:t>验收：</a:t>
            </a:r>
          </a:p>
          <a:p>
            <a:pPr lvl="0"/>
            <a:r>
              <a:rPr/>
              <a:t>agent 自己写代码并运行脚本</a:t>
            </a:r>
          </a:p>
          <a:p>
            <a:pPr lvl="0"/>
            <a:r>
              <a:rPr/>
              <a:t>产物包含 GDS + IR + summary</a:t>
            </a:r>
          </a:p>
          <a:p>
            <a:pPr lvl="0"/>
            <a:r>
              <a:rPr/>
              <a:t>topology verifier 通过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阶段 3：验证和闭环总结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目标：让结果进入数据飞轮，而不是只留下 GDS。</a:t>
            </a:r>
          </a:p>
          <a:p>
            <a:pPr lvl="0" indent="0" marL="0">
              <a:buNone/>
            </a:pPr>
            <a:r>
              <a:rPr/>
              <a:t>要做：</a:t>
            </a:r>
          </a:p>
          <a:p>
            <a:pPr lvl="0"/>
            <a:r>
              <a:rPr/>
              <a:t>新增 topology verifier</a:t>
            </a:r>
          </a:p>
          <a:p>
            <a:pPr lvl="0"/>
            <a:r>
              <a:rPr/>
              <a:t>新增 evidence verifier</a:t>
            </a:r>
          </a:p>
          <a:p>
            <a:pPr lvl="0"/>
            <a:r>
              <a:rPr/>
              <a:t>新增 GDS parse/check</a:t>
            </a:r>
          </a:p>
          <a:p>
            <a:pPr lvl="0"/>
            <a:r>
              <a:rPr>
                <a:latin typeface="Courier"/>
              </a:rPr>
              <a:t>wiki-agent</a:t>
            </a:r>
            <a:r>
              <a:rPr/>
              <a:t> 读取 verification records</a:t>
            </a:r>
          </a:p>
          <a:p>
            <a:pPr lvl="0"/>
            <a:r>
              <a:rPr/>
              <a:t>生成 method/dataset/finding/design-record wiki pages</a:t>
            </a:r>
          </a:p>
          <a:p>
            <a:pPr lvl="0"/>
            <a:r>
              <a:rPr/>
              <a:t>将失败写入 benchmark state</a:t>
            </a:r>
          </a:p>
          <a:p>
            <a:pPr lvl="0" indent="0" marL="0">
              <a:buNone/>
            </a:pPr>
            <a:r>
              <a:rPr/>
              <a:t>验收：</a:t>
            </a:r>
          </a:p>
          <a:p>
            <a:pPr lvl="0"/>
            <a:r>
              <a:rPr/>
              <a:t>错误会变成 failure record 或 correction request</a:t>
            </a:r>
          </a:p>
          <a:p>
            <a:pPr lvl="0"/>
            <a:r>
              <a:rPr/>
              <a:t>wiki 页面引用 design records 和 source evidence</a:t>
            </a:r>
          </a:p>
          <a:p>
            <a:pPr lvl="0"/>
            <a:r>
              <a:rPr/>
              <a:t>下一轮运行会读取已有经验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阶段 4：从一篇论文扩展到多篇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目标：验证 flywheel 是否真的复用知识。</a:t>
            </a:r>
          </a:p>
          <a:p>
            <a:pPr lvl="0" indent="0" marL="0">
              <a:buNone/>
            </a:pPr>
            <a:r>
              <a:rPr/>
              <a:t>要做：</a:t>
            </a:r>
          </a:p>
          <a:p>
            <a:pPr lvl="0"/>
            <a:r>
              <a:rPr/>
              <a:t>选择第二篇有 chip layout / micrograph / parameter table 的论文</a:t>
            </a:r>
          </a:p>
          <a:p>
            <a:pPr lvl="0"/>
            <a:r>
              <a:rPr/>
              <a:t>跑相同 workflow</a:t>
            </a:r>
          </a:p>
          <a:p>
            <a:pPr lvl="0"/>
            <a:r>
              <a:rPr/>
              <a:t>比较抽取质量、unknown 数量、verifier failure 类型</a:t>
            </a:r>
          </a:p>
          <a:p>
            <a:pPr lvl="0"/>
            <a:r>
              <a:rPr/>
              <a:t>更新通用 Xmon / readout / frequency planning 页面</a:t>
            </a:r>
          </a:p>
          <a:p>
            <a:pPr lvl="0"/>
            <a:r>
              <a:rPr/>
              <a:t>建立 benchmark leaderboard</a:t>
            </a:r>
          </a:p>
          <a:p>
            <a:pPr lvl="0" indent="0" marL="0">
              <a:buNone/>
            </a:pPr>
            <a:r>
              <a:rPr/>
              <a:t>验收：</a:t>
            </a:r>
          </a:p>
          <a:p>
            <a:pPr lvl="0"/>
            <a:r>
              <a:rPr/>
              <a:t>第二篇论文不需要重新设计全部 schema</a:t>
            </a:r>
          </a:p>
          <a:p>
            <a:pPr lvl="0"/>
            <a:r>
              <a:rPr/>
              <a:t>常见错误数量下降</a:t>
            </a:r>
          </a:p>
          <a:p>
            <a:pPr lvl="0"/>
            <a:r>
              <a:rPr/>
              <a:t>human correction 可被后续复用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风险与边界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不能过度承诺：</a:t>
            </a:r>
          </a:p>
          <a:p>
            <a:pPr lvl="0"/>
            <a:r>
              <a:rPr/>
              <a:t>论文通常不足以复现 mask-ready layout</a:t>
            </a:r>
          </a:p>
          <a:p>
            <a:pPr lvl="0"/>
            <a:r>
              <a:rPr/>
              <a:t>Figure micrograph 不能自动给出所有尺寸</a:t>
            </a:r>
          </a:p>
          <a:p>
            <a:pPr lvl="0"/>
            <a:r>
              <a:rPr/>
              <a:t>PDK、junction process、airbridge rules、packaging details 往往不完整</a:t>
            </a:r>
          </a:p>
          <a:p>
            <a:pPr lvl="0"/>
            <a:r>
              <a:rPr/>
              <a:t>Q3D/HFSS 验证只能从局部结构开始</a:t>
            </a:r>
          </a:p>
          <a:p>
            <a:pPr lvl="0" indent="0" marL="0">
              <a:buNone/>
            </a:pPr>
            <a:r>
              <a:rPr/>
              <a:t>可承诺：</a:t>
            </a:r>
          </a:p>
          <a:p>
            <a:pPr lvl="0"/>
            <a:r>
              <a:rPr/>
              <a:t>paper-faithful reconstruction</a:t>
            </a:r>
          </a:p>
          <a:p>
            <a:pPr lvl="0"/>
            <a:r>
              <a:rPr/>
              <a:t>topology-faithful layout</a:t>
            </a:r>
          </a:p>
          <a:p>
            <a:pPr lvl="0"/>
            <a:r>
              <a:rPr/>
              <a:t>evidence-backed assumptions</a:t>
            </a:r>
          </a:p>
          <a:p>
            <a:pPr lvl="0"/>
            <a:r>
              <a:rPr/>
              <a:t>reproducible IR / code / GDS / verification records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近期里程碑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 1 周：</a:t>
            </a:r>
          </a:p>
          <a:p>
            <a:pPr lvl="0"/>
            <a:r>
              <a:rPr/>
              <a:t>benchmark contract</a:t>
            </a:r>
          </a:p>
          <a:p>
            <a:pPr lvl="0"/>
            <a:r>
              <a:rPr/>
              <a:t>extraction schema</a:t>
            </a:r>
          </a:p>
          <a:p>
            <a:pPr lvl="0"/>
            <a:r>
              <a:rPr/>
              <a:t>layout IR schema</a:t>
            </a:r>
          </a:p>
          <a:p>
            <a:pPr lvl="0"/>
            <a:r>
              <a:rPr/>
              <a:t>verifier schema</a:t>
            </a:r>
          </a:p>
          <a:p>
            <a:pPr lvl="0" indent="0" marL="0">
              <a:buNone/>
            </a:pPr>
            <a:r>
              <a:rPr/>
              <a:t>第 2 周：</a:t>
            </a:r>
          </a:p>
          <a:p>
            <a:pPr lvl="0"/>
            <a:r>
              <a:rPr/>
              <a:t>wiki-agent design extraction workflow</a:t>
            </a:r>
          </a:p>
          <a:p>
            <a:pPr lvl="0"/>
            <a:r>
              <a:rPr/>
              <a:t>Nature14270 first extraction run</a:t>
            </a:r>
          </a:p>
          <a:p>
            <a:pPr lvl="0"/>
            <a:r>
              <a:rPr/>
              <a:t>correction file format</a:t>
            </a:r>
          </a:p>
          <a:p>
            <a:pPr lvl="0" indent="0" marL="0">
              <a:buNone/>
            </a:pPr>
            <a:r>
              <a:rPr/>
              <a:t>第 3 周：</a:t>
            </a:r>
          </a:p>
          <a:p>
            <a:pPr lvl="0"/>
            <a:r>
              <a:rPr/>
              <a:t>design-agent Nature14270 layout template</a:t>
            </a:r>
          </a:p>
          <a:p>
            <a:pPr lvl="0"/>
            <a:r>
              <a:rPr/>
              <a:t>GDS generation</a:t>
            </a:r>
          </a:p>
          <a:p>
            <a:pPr lvl="0"/>
            <a:r>
              <a:rPr/>
              <a:t>topology verifier</a:t>
            </a:r>
          </a:p>
          <a:p>
            <a:pPr lvl="0" indent="0" marL="0">
              <a:buNone/>
            </a:pPr>
            <a:r>
              <a:rPr/>
              <a:t>第 4 周：</a:t>
            </a:r>
          </a:p>
          <a:p>
            <a:pPr lvl="0"/>
            <a:r>
              <a:rPr/>
              <a:t>wiki summary pages</a:t>
            </a:r>
          </a:p>
          <a:p>
            <a:pPr lvl="0"/>
            <a:r>
              <a:rPr/>
              <a:t>benchmark report</a:t>
            </a:r>
          </a:p>
          <a:p>
            <a:pPr lvl="0"/>
            <a:r>
              <a:rPr/>
              <a:t>second-paper readiness review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成功标准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最小成功：</a:t>
            </a:r>
          </a:p>
          <a:p>
            <a:pPr lvl="0"/>
            <a:r>
              <a:rPr/>
              <a:t>agent 产出 Nature14270 extraction、IR、GDS 和 verification</a:t>
            </a:r>
          </a:p>
          <a:p>
            <a:pPr lvl="0"/>
            <a:r>
              <a:rPr/>
              <a:t>verification 明确通过和失败项</a:t>
            </a:r>
          </a:p>
          <a:p>
            <a:pPr lvl="0"/>
            <a:r>
              <a:rPr/>
              <a:t>wiki-agent 归纳 reusable rules</a:t>
            </a:r>
          </a:p>
          <a:p>
            <a:pPr lvl="0" indent="0" marL="0">
              <a:buNone/>
            </a:pPr>
            <a:r>
              <a:rPr/>
              <a:t>真正成功：</a:t>
            </a:r>
          </a:p>
          <a:p>
            <a:pPr lvl="0"/>
            <a:r>
              <a:rPr/>
              <a:t>第二篇论文复用同一流程</a:t>
            </a:r>
          </a:p>
          <a:p>
            <a:pPr lvl="0"/>
            <a:r>
              <a:rPr/>
              <a:t>人工 correction 被记录并影响下一轮</a:t>
            </a:r>
          </a:p>
          <a:p>
            <a:pPr lvl="0"/>
            <a:r>
              <a:rPr/>
              <a:t>benchmark 分数和失败类型可追踪</a:t>
            </a:r>
          </a:p>
          <a:p>
            <a:pPr lvl="0"/>
            <a:r>
              <a:rPr/>
              <a:t>design-agent 越来越少依赖人工解释论文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下一步不做具体版图开发，先做 planning-to-implementation handoff：</a:t>
            </a:r>
          </a:p>
          <a:p>
            <a:pPr lvl="0"/>
            <a:r>
              <a:rPr/>
              <a:t>把本 PPT 作为路线图</a:t>
            </a:r>
          </a:p>
          <a:p>
            <a:pPr lvl="0"/>
            <a:r>
              <a:rPr/>
              <a:t>另写一份开发计划文档，拆成 PR-sized tasks</a:t>
            </a:r>
          </a:p>
          <a:p>
            <a:pPr lvl="0"/>
            <a:r>
              <a:rPr/>
              <a:t>第一项实现只做 schema + benchmark contract</a:t>
            </a:r>
          </a:p>
          <a:p>
            <a:pPr lvl="0"/>
            <a:r>
              <a:rPr/>
              <a:t>后续每个阶段都要求 agent 自己跑 Nature14270</a:t>
            </a:r>
          </a:p>
          <a:p>
            <a:pPr lvl="0" indent="0" marL="0">
              <a:buNone/>
            </a:pPr>
            <a:r>
              <a:rPr/>
              <a:t>判断标准：每次开发都让 agent 多承担一点任务，而不是让人工多填一点答案。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Design-Wiki for Nature14270 Layout Reproduction</dc:title>
  <dc:creator>pi-agent-minimal-ts planning deck</dc:creator>
  <cp:keywords/>
  <dcterms:created xsi:type="dcterms:W3CDTF">2026-05-28T05:09:05Z</dcterms:created>
  <dcterms:modified xsi:type="dcterms:W3CDTF">2026-05-28T05:09:05Z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2026-05-28</vt:lpwstr>
  </property>
  <property fmtid="{D5CDD505-2E9C-101B-9397-08002B2CF9AE}" pid="3" name="subtitle">
    <vt:lpwstr>Agent development plan for a 9-qubit superconducting-chip data flywheel</vt:lpwstr>
  </property>
</Properties>
</file>